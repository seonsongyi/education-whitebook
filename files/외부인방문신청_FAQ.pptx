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8" r:id="rId2"/>
    <p:sldId id="262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1E3B"/>
    <a:srgbClr val="A50034"/>
    <a:srgbClr val="C4003D"/>
    <a:srgbClr val="B00036"/>
    <a:srgbClr val="008000"/>
    <a:srgbClr val="AA1D3B"/>
    <a:srgbClr val="D5D5D5"/>
    <a:srgbClr val="006600"/>
    <a:srgbClr val="FFFFFF"/>
    <a:srgbClr val="439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5DCE7-6282-4BDE-A547-B9008E187487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4095B-4103-41A5-A0C6-1F0AE490C7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177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6420-DDBE-44F9-941F-88B39B0B5607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4FF0-47B2-47D9-929E-2BB6FDF10D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421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6420-DDBE-44F9-941F-88B39B0B5607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4FF0-47B2-47D9-929E-2BB6FDF10D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916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6420-DDBE-44F9-941F-88B39B0B5607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4FF0-47B2-47D9-929E-2BB6FDF10D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0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6420-DDBE-44F9-941F-88B39B0B5607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4FF0-47B2-47D9-929E-2BB6FDF10D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25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6420-DDBE-44F9-941F-88B39B0B5607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4FF0-47B2-47D9-929E-2BB6FDF10D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12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6420-DDBE-44F9-941F-88B39B0B5607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4FF0-47B2-47D9-929E-2BB6FDF10D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804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6420-DDBE-44F9-941F-88B39B0B5607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4FF0-47B2-47D9-929E-2BB6FDF10D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43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6420-DDBE-44F9-941F-88B39B0B5607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4FF0-47B2-47D9-929E-2BB6FDF10D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48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6420-DDBE-44F9-941F-88B39B0B5607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4FF0-47B2-47D9-929E-2BB6FDF10D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032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6420-DDBE-44F9-941F-88B39B0B5607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4FF0-47B2-47D9-929E-2BB6FDF10D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19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6420-DDBE-44F9-941F-88B39B0B5607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4FF0-47B2-47D9-929E-2BB6FDF10D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05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E6420-DDBE-44F9-941F-88B39B0B5607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84FF0-47B2-47D9-929E-2BB6FDF10D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MSIPCMContentMarking" descr="{&quot;HashCode&quot;:966751382,&quot;Placement&quot;:&quot;Header&quot;,&quot;Top&quot;:0.0,&quot;Left&quot;:293.954651,&quot;SlideWidth&quot;:720,&quot;SlideHeight&quot;:540}"/>
          <p:cNvSpPr txBox="1"/>
          <p:nvPr userDrawn="1"/>
        </p:nvSpPr>
        <p:spPr>
          <a:xfrm>
            <a:off x="3733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smtClean="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103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5398" y="36497"/>
            <a:ext cx="1924594" cy="759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4000" b="1" dirty="0" smtClean="0">
                <a:solidFill>
                  <a:srgbClr val="B0003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Q&amp;A</a:t>
            </a:r>
            <a:endParaRPr lang="en-US" altLang="ko-KR" sz="4000" b="1" dirty="0">
              <a:solidFill>
                <a:srgbClr val="B00036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95164" y="1375658"/>
            <a:ext cx="3930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임직원이 대리로 신청해 주는 것이 가능한가요</a:t>
            </a:r>
            <a:r>
              <a:rPr lang="en-US" altLang="ko-KR" sz="1600" b="1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?</a:t>
            </a:r>
            <a:endParaRPr lang="en-US" altLang="ko-KR" sz="16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18923" y="1685157"/>
            <a:ext cx="7149629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개인정보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Compliance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이슈로 인해 방문객이 직접 신청하는 것이 원칙입니다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pPr>
              <a:lnSpc>
                <a:spcPct val="135000"/>
              </a:lnSpc>
            </a:pPr>
            <a:r>
              <a:rPr lang="ko-KR" altLang="en-US" sz="12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대리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신청이 불가피한 경우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사전에 방문객으로부터 메일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또는 문자 등을 </a:t>
            </a:r>
            <a:r>
              <a:rPr lang="ko-KR" altLang="en-US" sz="12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통해 </a:t>
            </a:r>
            <a:endParaRPr lang="en-US" altLang="ko-KR" sz="1200" dirty="0" smtClea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35000"/>
              </a:lnSpc>
            </a:pPr>
            <a:r>
              <a:rPr lang="ko-KR" altLang="en-US" sz="12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개인정보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수집이용에 </a:t>
            </a:r>
            <a:r>
              <a:rPr lang="ko-KR" altLang="en-US" sz="12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대한 동의를 받아주시기 바랍니다</a:t>
            </a:r>
            <a:r>
              <a:rPr lang="en-US" altLang="ko-KR" sz="12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en-US" altLang="ko-KR" sz="12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71018" y="2239119"/>
            <a:ext cx="16882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수집 동의에 대한 증빙 필요</a:t>
            </a:r>
            <a:endParaRPr lang="ko-KR" altLang="en-US" sz="1050" dirty="0">
              <a:solidFill>
                <a:schemeClr val="accent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26338" y="1224562"/>
            <a:ext cx="737921" cy="559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800" b="1" dirty="0" smtClean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Q1</a:t>
            </a:r>
            <a:endParaRPr lang="en-US" altLang="ko-KR" sz="2800" b="1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95164" y="2712292"/>
            <a:ext cx="5030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 </a:t>
            </a:r>
            <a:r>
              <a:rPr lang="ko-KR" altLang="en-US" sz="16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계열사 임직원인 경우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</a:t>
            </a:r>
            <a:r>
              <a:rPr lang="ko-KR" altLang="en-US" sz="16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방문포탈에서 신청할 수 있나요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?</a:t>
            </a:r>
            <a:r>
              <a:rPr lang="en-US" altLang="ko-KR" sz="16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/>
            </a:r>
            <a:br>
              <a:rPr lang="en-US" altLang="ko-KR" sz="16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endParaRPr lang="en-US" altLang="ko-KR" sz="16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18923" y="3013553"/>
            <a:ext cx="6144612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계열사 임직원인 경우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방문포탈에서 직접 방문예약 신청 후 </a:t>
            </a:r>
            <a:r>
              <a:rPr lang="ko-KR" altLang="en-US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사내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출입이 가능합니다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en-US" altLang="ko-KR" sz="11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5164" y="3511050"/>
            <a:ext cx="579517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자사 임직원이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 </a:t>
            </a:r>
            <a:r>
              <a:rPr lang="ko-KR" altLang="en-US" sz="16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계열사를 방문시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</a:t>
            </a:r>
            <a:r>
              <a:rPr lang="ko-KR" altLang="en-US" sz="16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방문포탈에서 신청할 수 있나요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8923" y="3845263"/>
            <a:ext cx="7421477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현재는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트윈타워 동관 방문시에 한하여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방문포탈에서 신청가능합니다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</a:p>
          <a:p>
            <a:pPr>
              <a:lnSpc>
                <a:spcPct val="135000"/>
              </a:lnSpc>
            </a:pPr>
            <a:r>
              <a:rPr lang="ko-KR" altLang="en-US" sz="12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이외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계열사는 순차적으로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방문포탈이 적용될 예정입니다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endParaRPr lang="en-US" altLang="ko-KR" sz="1200" dirty="0" smtClea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35000"/>
              </a:lnSpc>
            </a:pPr>
            <a:r>
              <a:rPr lang="ko-KR" altLang="en-US" sz="12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타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계열사 </a:t>
            </a:r>
            <a:r>
              <a:rPr lang="ko-KR" altLang="en-US" sz="12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 시 방문할 계열사 임직원에게 신청절차를 문의하시기 바랍니다</a:t>
            </a:r>
            <a:r>
              <a:rPr lang="en-US" altLang="ko-KR" sz="12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en-US" altLang="ko-KR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5164" y="4833267"/>
            <a:ext cx="3307316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공사인원도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</a:t>
            </a:r>
            <a:r>
              <a:rPr lang="ko-KR" altLang="en-US" sz="16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방문포탈을 이용하나요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8923" y="5183956"/>
            <a:ext cx="6144612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아닙니다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공사를 위한 방문예약 신청은 기존과 동일하게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SHEE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에서 신청 후 </a:t>
            </a:r>
            <a:r>
              <a:rPr lang="ko-KR" altLang="en-US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출입하시기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바랍니다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6338" y="2525861"/>
            <a:ext cx="721445" cy="559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800" b="1" dirty="0" smtClean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Q2</a:t>
            </a:r>
            <a:endParaRPr lang="en-US" altLang="ko-KR" sz="2800" b="1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26338" y="3388690"/>
            <a:ext cx="721444" cy="559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800" b="1" dirty="0" smtClean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Q3</a:t>
            </a:r>
            <a:endParaRPr lang="en-US" altLang="ko-KR" sz="2800" b="1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26338" y="4717879"/>
            <a:ext cx="779110" cy="559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800" b="1" dirty="0" smtClean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Q4</a:t>
            </a:r>
            <a:endParaRPr lang="en-US" altLang="ko-KR" sz="2800" b="1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5164" y="5661539"/>
            <a:ext cx="6505307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방문객이 </a:t>
            </a:r>
            <a:r>
              <a:rPr lang="ko-KR" altLang="en-US" sz="1600" b="1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상주 협력사 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인원을 만나기 위해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</a:t>
            </a:r>
            <a:r>
              <a:rPr lang="ko-KR" altLang="en-US" sz="1600" b="1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방문포탈을 </a:t>
            </a:r>
            <a:r>
              <a:rPr lang="ko-KR" altLang="en-US" sz="16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통해 신청할 수 있나요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8923" y="6050436"/>
            <a:ext cx="614461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상주 협력사를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관리하는 자사 임직원을 피방문자로 지정해야하고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자사 임직원이 승인해야 합니다</a:t>
            </a:r>
            <a:r>
              <a:rPr lang="en-US" altLang="ko-KR" sz="12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en-US" altLang="ko-KR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26338" y="5551407"/>
            <a:ext cx="721444" cy="559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800" b="1" dirty="0" smtClean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Q5</a:t>
            </a:r>
            <a:endParaRPr lang="en-US" altLang="ko-KR" sz="2800" b="1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 flipH="1" flipV="1">
            <a:off x="1006784" y="469558"/>
            <a:ext cx="2689804" cy="44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 flipV="1">
            <a:off x="5526820" y="469558"/>
            <a:ext cx="2689804" cy="44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033386" y="682232"/>
            <a:ext cx="1175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LG</a:t>
            </a:r>
            <a:r>
              <a:rPr lang="ko-KR" altLang="en-US" sz="1600" smtClean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방문포탈</a:t>
            </a:r>
            <a:endParaRPr lang="ko-KR" altLang="en-US" sz="1600"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623066" y="1376503"/>
            <a:ext cx="815142" cy="815142"/>
          </a:xfrm>
          <a:prstGeom prst="ellipse">
            <a:avLst/>
          </a:prstGeom>
          <a:solidFill>
            <a:srgbClr val="B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699456" y="1596464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신 </a:t>
            </a:r>
            <a:r>
              <a:rPr lang="ko-KR" altLang="en-US" dirty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청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0" y="0"/>
            <a:ext cx="9135762" cy="6851822"/>
          </a:xfrm>
          <a:prstGeom prst="rect">
            <a:avLst/>
          </a:prstGeom>
          <a:noFill/>
          <a:ln w="12700">
            <a:solidFill>
              <a:srgbClr val="D5D5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93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5398" y="36497"/>
            <a:ext cx="1924594" cy="759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4000" b="1" dirty="0" smtClean="0">
                <a:solidFill>
                  <a:srgbClr val="B0003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Q&amp;A</a:t>
            </a:r>
            <a:endParaRPr lang="en-US" altLang="ko-KR" sz="4000" b="1" dirty="0">
              <a:solidFill>
                <a:srgbClr val="B00036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97478" y="1286475"/>
            <a:ext cx="5553123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 신청에 대한 임직원의 승인은 왜 필요하며 어디서 해야 하나요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237" y="1645402"/>
            <a:ext cx="714962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 목적 및 방문객의 사전 확인을 위한 절차이며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LGEP Approval(Mobile EP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포함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에서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승인하면 됩니다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8652" y="1193045"/>
            <a:ext cx="737921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800" b="1" dirty="0" smtClean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Q6</a:t>
            </a:r>
            <a:endParaRPr lang="en-US" altLang="ko-KR" sz="2800" b="1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97478" y="2249378"/>
            <a:ext cx="54970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방문신청에 대한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6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차 결재 승인자를 조직책임자에서 다른 사람으로 </a:t>
            </a:r>
            <a:endParaRPr lang="en-US" altLang="ko-KR" sz="1600" b="1" dirty="0" smtClea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600" b="1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가능한가요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?</a:t>
            </a:r>
          </a:p>
          <a:p>
            <a:r>
              <a:rPr lang="en-US" altLang="ko-KR" sz="16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/>
            </a:r>
            <a:br>
              <a:rPr lang="en-US" altLang="ko-KR" sz="16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endParaRPr lang="en-US" altLang="ko-KR" sz="16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97478" y="2785439"/>
            <a:ext cx="6144612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차 결재자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임직원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 승인 전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『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원문보기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』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클릭하여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차 결재권자를 지정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변경하면 됩니다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en-US" altLang="ko-KR" sz="11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97478" y="3471295"/>
            <a:ext cx="3478837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방문객을 어디에서부터 인솔해야 </a:t>
            </a:r>
            <a:r>
              <a:rPr lang="ko-KR" altLang="en-US" sz="16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하나요</a:t>
            </a:r>
            <a:r>
              <a:rPr lang="en-US" altLang="ko-KR" sz="1600" b="1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?</a:t>
            </a:r>
            <a:endParaRPr lang="en-US" altLang="ko-KR" sz="16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21237" y="3805508"/>
            <a:ext cx="742147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방문객이 방문카드를 발급받는 안내데스크에서부터 임직원께서 동행해 주시기 바랍니다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b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마찬가지로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방문객이 방문목적을 마친 후에도 보안검색대까지 동행하시어 정상 퇴소 여부를 </a:t>
            </a:r>
            <a:endParaRPr lang="en-US" altLang="ko-KR" sz="1200" dirty="0" smtClea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35000"/>
              </a:lnSpc>
            </a:pPr>
            <a:r>
              <a:rPr lang="ko-KR" altLang="en-US" sz="12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확인하시기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바랍니다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pPr>
              <a:lnSpc>
                <a:spcPct val="135000"/>
              </a:lnSpc>
            </a:pPr>
            <a:r>
              <a:rPr lang="ko-KR" altLang="en-US" sz="12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임직원이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동행하지 않은 경우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방문객의 출입 및 퇴소가 제한됩니다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</a:p>
          <a:p>
            <a:pPr>
              <a:lnSpc>
                <a:spcPct val="135000"/>
              </a:lnSpc>
            </a:pPr>
            <a:r>
              <a:rPr lang="ko-KR" altLang="en-US" sz="120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승인완료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된 방문객만 사내 출입이 가능합니다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8652" y="2062947"/>
            <a:ext cx="721445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800" b="1" dirty="0" smtClean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Q7</a:t>
            </a:r>
            <a:endParaRPr lang="en-US" altLang="ko-KR" sz="2800" b="1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28652" y="3348935"/>
            <a:ext cx="721444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800" b="1" dirty="0" smtClean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Q8</a:t>
            </a:r>
            <a:endParaRPr lang="en-US" altLang="ko-KR" sz="2800" b="1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97478" y="5346259"/>
            <a:ext cx="3712876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임직원은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</a:t>
            </a:r>
            <a:r>
              <a:rPr lang="ko-KR" altLang="en-US" sz="16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방문포탈에 어떻게 접속하나요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237" y="5735156"/>
            <a:ext cx="6652060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임직원은 </a:t>
            </a:r>
            <a:r>
              <a:rPr lang="en-US" altLang="ko-KR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New Security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Portal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또는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LGEP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접속 시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SSO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로그인되어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방문포탈에 접속하실 수 있습니다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pPr>
              <a:lnSpc>
                <a:spcPct val="135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 </a:t>
            </a:r>
            <a:r>
              <a:rPr lang="en-US" altLang="ko-KR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New Security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Portal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ko-KR" altLang="en-US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출입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방문포탈</a:t>
            </a:r>
            <a:r>
              <a:rPr lang="en-US" altLang="ko-KR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링크</a:t>
            </a:r>
            <a:r>
              <a:rPr lang="en-US" altLang="ko-KR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35000"/>
              </a:lnSpc>
            </a:pPr>
            <a:r>
              <a:rPr lang="en-US" altLang="ko-KR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</a:t>
            </a:r>
            <a:r>
              <a:rPr lang="ko-KR" altLang="en-US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 </a:t>
            </a:r>
            <a:r>
              <a:rPr lang="en-US" altLang="ko-KR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LGEP </a:t>
            </a:r>
            <a:r>
              <a:rPr lang="ko-KR" altLang="en-US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My System </a:t>
            </a:r>
            <a:r>
              <a:rPr lang="ko-KR" altLang="en-US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System Map </a:t>
            </a:r>
            <a:r>
              <a:rPr lang="ko-KR" altLang="en-US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바로가기 → </a:t>
            </a:r>
            <a:r>
              <a:rPr lang="en-US" altLang="ko-KR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 </a:t>
            </a:r>
            <a:r>
              <a:rPr lang="ko-KR" altLang="en-US" sz="12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방문포탈</a:t>
            </a:r>
            <a:endParaRPr lang="en-US" altLang="ko-KR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28652" y="5236127"/>
            <a:ext cx="721444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800" b="1" dirty="0" smtClean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Q9</a:t>
            </a:r>
            <a:endParaRPr lang="en-US" altLang="ko-KR" sz="2800" b="1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 flipH="1" flipV="1">
            <a:off x="1006784" y="469558"/>
            <a:ext cx="2689804" cy="44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 flipV="1">
            <a:off x="5526820" y="469558"/>
            <a:ext cx="2689804" cy="44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033386" y="682232"/>
            <a:ext cx="1175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LG</a:t>
            </a:r>
            <a:r>
              <a:rPr lang="ko-KR" altLang="en-US" sz="1600" smtClean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방문포탈</a:t>
            </a:r>
            <a:endParaRPr lang="ko-KR" altLang="en-US" sz="1600"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534308" y="1286475"/>
            <a:ext cx="815142" cy="815142"/>
          </a:xfrm>
          <a:prstGeom prst="ellipse">
            <a:avLst/>
          </a:prstGeom>
          <a:solidFill>
            <a:srgbClr val="B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097478" y="3074919"/>
            <a:ext cx="43075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105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추가결재권 신청방법 </a:t>
            </a:r>
            <a:r>
              <a:rPr lang="en-US" altLang="ko-KR" sz="105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en-US" altLang="ko-KR" sz="1050" smtClean="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New Security Portal &gt; </a:t>
            </a:r>
            <a:r>
              <a:rPr lang="ko-KR" altLang="en-US" sz="1050" smtClean="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기타</a:t>
            </a:r>
            <a:r>
              <a:rPr lang="en-US" altLang="ko-KR" sz="1050" smtClean="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 </a:t>
            </a:r>
            <a:r>
              <a:rPr lang="ko-KR" altLang="en-US" sz="1050" smtClean="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권한신청</a:t>
            </a:r>
            <a:r>
              <a:rPr lang="en-US" altLang="ko-KR" sz="1050" smtClean="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 </a:t>
            </a:r>
            <a:r>
              <a:rPr lang="ko-KR" altLang="en-US" sz="1050" smtClean="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결재권한 </a:t>
            </a:r>
            <a:r>
              <a:rPr lang="ko-KR" altLang="en-US" sz="105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신청</a:t>
            </a:r>
            <a:endParaRPr lang="ko-KR" altLang="en-US" sz="1050" dirty="0">
              <a:solidFill>
                <a:schemeClr val="accent6"/>
              </a:solidFill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534308" y="3433040"/>
            <a:ext cx="815142" cy="815142"/>
          </a:xfrm>
          <a:prstGeom prst="ellipse">
            <a:avLst/>
          </a:prstGeom>
          <a:solidFill>
            <a:srgbClr val="B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>
            <a:off x="534308" y="5346259"/>
            <a:ext cx="815142" cy="815142"/>
          </a:xfrm>
          <a:prstGeom prst="ellipse">
            <a:avLst/>
          </a:prstGeom>
          <a:solidFill>
            <a:srgbClr val="B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39727" y="5585066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시스템</a:t>
            </a:r>
            <a:endParaRPr lang="ko-KR" altLang="en-US" dirty="0">
              <a:solidFill>
                <a:schemeClr val="bg1"/>
              </a:solidFill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0698" y="3655945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출 입</a:t>
            </a:r>
            <a:endParaRPr lang="ko-KR" altLang="en-US" dirty="0">
              <a:solidFill>
                <a:schemeClr val="bg1"/>
              </a:solidFill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10698" y="1506436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승 인</a:t>
            </a:r>
            <a:endParaRPr lang="ko-KR" altLang="en-US" dirty="0">
              <a:solidFill>
                <a:schemeClr val="bg1"/>
              </a:solidFill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24761" y="4603638"/>
            <a:ext cx="26917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식사</a:t>
            </a:r>
            <a:r>
              <a:rPr lang="en-US" altLang="ko-KR" sz="1000" dirty="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>
                <a:solidFill>
                  <a:schemeClr val="accent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흡연 등의 사유로 퇴소 후 재출입시에도 동일</a:t>
            </a:r>
            <a:endParaRPr lang="ko-KR" altLang="en-US" sz="1000" dirty="0">
              <a:solidFill>
                <a:schemeClr val="accent6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0" y="0"/>
            <a:ext cx="9135762" cy="6851822"/>
          </a:xfrm>
          <a:prstGeom prst="rect">
            <a:avLst/>
          </a:prstGeom>
          <a:noFill/>
          <a:ln w="12700">
            <a:solidFill>
              <a:srgbClr val="D5D5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90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21807</TotalTime>
  <Words>320</Words>
  <Application>Microsoft Office PowerPoint</Application>
  <PresentationFormat>화면 슬라이드 쇼(4:3)</PresentationFormat>
  <Paragraphs>49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LG스마트체 Regular</vt:lpstr>
      <vt:lpstr>LG스마트체 SemiBold</vt:lpstr>
      <vt:lpstr>맑은 고딕</vt:lpstr>
      <vt:lpstr>Arial</vt:lpstr>
      <vt:lpstr>Arial Narrow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허윤/선임/Security기획팀(youn.ho@lge.com)</dc:creator>
  <cp:lastModifiedBy>김왕현/책임/본사정보보호팀(wanghyun.kim@lge.com)</cp:lastModifiedBy>
  <cp:revision>139</cp:revision>
  <dcterms:created xsi:type="dcterms:W3CDTF">2020-05-26T08:14:34Z</dcterms:created>
  <dcterms:modified xsi:type="dcterms:W3CDTF">2023-06-19T01:12:03Z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2023-06-19T00:54:21Z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a31231b0-ceec-44cd-b293-3b8cca18c4b8</vt:lpwstr>
  </property>
  <property fmtid="{D5CDD505-2E9C-101B-9397-08002B2CF9AE}" pid="8" name="MSIP_Label_cc6ed9fc-fefc-4a0c-a6d6-10cf236c0d4f_ContentBits">
    <vt:lpwstr>1</vt:lpwstr>
  </property>
</Properties>
</file>